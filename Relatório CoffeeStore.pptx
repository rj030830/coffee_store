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f966a99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f966a99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fc2fc0b5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fc2fc0b5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fc2fc0b5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fc2fc0b5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fc2fc0b5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fc2fc0b5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fc2fc0b5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fc2fc0b5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fc2fc0b5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fc2fc0b5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fc2fc0b5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fc2fc0b5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fd08128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fd08128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fd08128b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fd08128b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00f9f0a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00f9f0a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00f9f0aa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00f9f0aa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00f9f0aa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00f9f0aa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00f9f0aa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00f9f0aa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00f9f0aa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00f9f0aa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00f9f0aa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00f9f0aa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08cda4a3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08cda4a3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08cda4a3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08cda4a3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Relatório de Insights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CoffeeStore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Perguntas de negócio: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Quais são os </a:t>
            </a:r>
            <a:r>
              <a:rPr b="1" lang="pt-BR" sz="1200">
                <a:solidFill>
                  <a:schemeClr val="dk1"/>
                </a:solidFill>
              </a:rPr>
              <a:t>dias da semana com maior e menor volume de vendas</a:t>
            </a:r>
            <a:r>
              <a:rPr lang="pt-BR" sz="1200">
                <a:solidFill>
                  <a:schemeClr val="dk1"/>
                </a:solidFill>
              </a:rPr>
              <a:t>?</a:t>
            </a:r>
            <a:br>
              <a:rPr lang="pt-BR" sz="1200">
                <a:solidFill>
                  <a:schemeClr val="dk1"/>
                </a:solidFill>
              </a:rPr>
            </a:br>
            <a:r>
              <a:rPr lang="pt-BR" sz="1200">
                <a:solidFill>
                  <a:schemeClr val="dk1"/>
                </a:solidFill>
              </a:rPr>
              <a:t>Em quais </a:t>
            </a:r>
            <a:r>
              <a:rPr b="1" lang="pt-BR" sz="1200">
                <a:solidFill>
                  <a:schemeClr val="dk1"/>
                </a:solidFill>
              </a:rPr>
              <a:t>horários do dia</a:t>
            </a:r>
            <a:r>
              <a:rPr lang="pt-BR" sz="1200">
                <a:solidFill>
                  <a:schemeClr val="dk1"/>
                </a:solidFill>
              </a:rPr>
              <a:t> as vendas atingem o pico e quando são mais baixas?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Como o </a:t>
            </a:r>
            <a:r>
              <a:rPr b="1" lang="pt-BR" sz="1200">
                <a:solidFill>
                  <a:schemeClr val="dk1"/>
                </a:solidFill>
              </a:rPr>
              <a:t>faturamento varia ao longo dos meses</a:t>
            </a:r>
            <a:r>
              <a:rPr lang="pt-BR" sz="1200">
                <a:solidFill>
                  <a:schemeClr val="dk1"/>
                </a:solidFill>
              </a:rPr>
              <a:t>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Q</a:t>
            </a:r>
            <a:r>
              <a:rPr lang="pt-BR" sz="1200">
                <a:solidFill>
                  <a:schemeClr val="dk1"/>
                </a:solidFill>
              </a:rPr>
              <a:t>uais </a:t>
            </a:r>
            <a:r>
              <a:rPr b="1" lang="pt-BR" sz="1200">
                <a:solidFill>
                  <a:schemeClr val="dk1"/>
                </a:solidFill>
              </a:rPr>
              <a:t>produtos são os mais vendidos</a:t>
            </a:r>
            <a:r>
              <a:rPr lang="pt-BR" sz="1200">
                <a:solidFill>
                  <a:schemeClr val="dk1"/>
                </a:solidFill>
              </a:rPr>
              <a:t> e quais têm o </a:t>
            </a:r>
            <a:r>
              <a:rPr b="1" lang="pt-BR" sz="1200">
                <a:solidFill>
                  <a:schemeClr val="dk1"/>
                </a:solidFill>
              </a:rPr>
              <a:t>maior faturamento total</a:t>
            </a:r>
            <a:r>
              <a:rPr lang="pt-BR" sz="1200">
                <a:solidFill>
                  <a:schemeClr val="dk1"/>
                </a:solidFill>
              </a:rPr>
              <a:t>?</a:t>
            </a:r>
            <a:br>
              <a:rPr lang="pt-BR" sz="1200">
                <a:solidFill>
                  <a:schemeClr val="dk1"/>
                </a:solidFill>
              </a:rPr>
            </a:br>
            <a:r>
              <a:rPr lang="pt-BR" sz="1200">
                <a:solidFill>
                  <a:schemeClr val="dk1"/>
                </a:solidFill>
              </a:rPr>
              <a:t>Existem </a:t>
            </a:r>
            <a:r>
              <a:rPr b="1" lang="pt-BR" sz="1200">
                <a:solidFill>
                  <a:schemeClr val="dk1"/>
                </a:solidFill>
              </a:rPr>
              <a:t>produtos com venda muito baixa</a:t>
            </a:r>
            <a:r>
              <a:rPr lang="pt-BR" sz="1200">
                <a:solidFill>
                  <a:schemeClr val="dk1"/>
                </a:solidFill>
              </a:rPr>
              <a:t> que talvez devam ser removidos do cardápio?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Como os </a:t>
            </a:r>
            <a:r>
              <a:rPr b="1" lang="pt-BR" sz="1200">
                <a:solidFill>
                  <a:schemeClr val="dk1"/>
                </a:solidFill>
              </a:rPr>
              <a:t>valores dos produtos influenciam o volume de vendas</a:t>
            </a:r>
            <a:r>
              <a:rPr lang="pt-BR" sz="1200">
                <a:solidFill>
                  <a:schemeClr val="dk1"/>
                </a:solidFill>
              </a:rPr>
              <a:t> 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Em quais </a:t>
            </a:r>
            <a:r>
              <a:rPr b="1" lang="pt-BR" sz="1200">
                <a:solidFill>
                  <a:schemeClr val="dk1"/>
                </a:solidFill>
              </a:rPr>
              <a:t>horários ou dias</a:t>
            </a:r>
            <a:r>
              <a:rPr lang="pt-BR" sz="1200">
                <a:solidFill>
                  <a:schemeClr val="dk1"/>
                </a:solidFill>
              </a:rPr>
              <a:t> o café poderia precisar de mais funcionários no caixa?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Existem </a:t>
            </a:r>
            <a:r>
              <a:rPr b="1" lang="pt-BR" sz="1200">
                <a:solidFill>
                  <a:schemeClr val="dk1"/>
                </a:solidFill>
              </a:rPr>
              <a:t>tendências semanais ou mensais?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700234" y="2262710"/>
            <a:ext cx="821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pt-BR" sz="1800"/>
              <a:t>Quais são os </a:t>
            </a:r>
            <a:r>
              <a:rPr b="1" lang="pt-BR" sz="1800"/>
              <a:t>dias da semana com maior e menor volume de vendas</a:t>
            </a:r>
            <a:r>
              <a:rPr lang="pt-BR" sz="1800"/>
              <a:t>?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Pergunta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8600" y="490487"/>
            <a:ext cx="5515925" cy="416252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0" y="102075"/>
            <a:ext cx="2697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Dados do Gráfico: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Dias da Semana com MAIOR volume de vendas e faturamento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1º -Terça-feira (Tuesday)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2º -Segunda-feira (Monday)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3º -Sexta-feira (Friday)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61038" y="2588950"/>
            <a:ext cx="25668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Sugestão: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Com essas informações em mente, recomendaria ao gerente criar campanhas/promoções especiais nos dias com movimento menor de clientes (especialmente Sábado e Domingo, quando o fluxo de clientes é menor)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74" name="Google Shape;74;p16"/>
          <p:cNvCxnSpPr/>
          <p:nvPr/>
        </p:nvCxnSpPr>
        <p:spPr>
          <a:xfrm>
            <a:off x="2737650" y="2225"/>
            <a:ext cx="9900" cy="51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1800904" y="2285400"/>
            <a:ext cx="554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800"/>
              <a:t>Em quais </a:t>
            </a:r>
            <a:r>
              <a:rPr b="1" lang="pt-BR" sz="1800"/>
              <a:t>horários do dia</a:t>
            </a:r>
            <a:r>
              <a:rPr lang="pt-BR" sz="1800"/>
              <a:t> as vendas atingem o pico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 sz="1800"/>
              <a:t> e quando são mais baixas?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 title="pergunta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550" y="933630"/>
            <a:ext cx="7016450" cy="420987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/>
        </p:nvSpPr>
        <p:spPr>
          <a:xfrm>
            <a:off x="91000" y="72125"/>
            <a:ext cx="8918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Dados do Gráfico: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O gráfico de linha demonstra os horários com maior volume e faturamento, com muito destaque para às 10:00h e 16:00h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91000" y="1040900"/>
            <a:ext cx="2427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Recomendo reforçar as operações da loja durante esses horários de pico (funcionários, estoques), também recomendo criar uma melhoria de ambiente para estimular pessoas com empregos remotos a ficarem na cafeteria durante período de trabalho (o que pode ajudar a melhorar o movimento, volume de vendas e faturamento em horários que normalmente não são tão agitados)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87" name="Google Shape;87;p18"/>
          <p:cNvCxnSpPr/>
          <p:nvPr/>
        </p:nvCxnSpPr>
        <p:spPr>
          <a:xfrm>
            <a:off x="2547900" y="1029800"/>
            <a:ext cx="0" cy="417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8"/>
          <p:cNvCxnSpPr/>
          <p:nvPr/>
        </p:nvCxnSpPr>
        <p:spPr>
          <a:xfrm rot="10800000">
            <a:off x="2547875" y="1031013"/>
            <a:ext cx="76803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1858761" y="2262700"/>
            <a:ext cx="558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/>
              <a:t>Como o </a:t>
            </a:r>
            <a:r>
              <a:rPr b="1" lang="pt-BR" sz="1800"/>
              <a:t>faturamento varia ao longo dos meses</a:t>
            </a:r>
            <a:r>
              <a:rPr lang="pt-BR" sz="1800"/>
              <a:t>?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pergunta_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8425" y="1430425"/>
            <a:ext cx="5356225" cy="32137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30700" y="72150"/>
            <a:ext cx="8569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Dados do Gráfico: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Foi notado que os meses 10/2024 e 02/2025 foram os períodos com maiores faturamentos no recorte de 12 meses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330700" y="1650150"/>
            <a:ext cx="26466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Com isso, recomendo tomar medidas para mitigar os meses com menor fluxo de clientes, como campanhas de marketing direcionadas ou promoções mais agressivas para aumentar o faturamento em meses que normalmente há queda de movimento 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101" name="Google Shape;101;p20"/>
          <p:cNvCxnSpPr/>
          <p:nvPr/>
        </p:nvCxnSpPr>
        <p:spPr>
          <a:xfrm>
            <a:off x="2967350" y="1140775"/>
            <a:ext cx="760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20"/>
          <p:cNvCxnSpPr/>
          <p:nvPr/>
        </p:nvCxnSpPr>
        <p:spPr>
          <a:xfrm rot="10800000">
            <a:off x="2979275" y="1125700"/>
            <a:ext cx="18300" cy="41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2367600" y="2285400"/>
            <a:ext cx="440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/>
              <a:t>Quais </a:t>
            </a:r>
            <a:r>
              <a:rPr b="1" lang="pt-BR" sz="1800"/>
              <a:t>produtos são os mais vendidos</a:t>
            </a:r>
            <a:r>
              <a:rPr lang="pt-BR" sz="1800"/>
              <a:t>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/>
              <a:t>e quais têm o </a:t>
            </a:r>
            <a:r>
              <a:rPr b="1" lang="pt-BR" sz="1800"/>
              <a:t>maior faturamento total</a:t>
            </a:r>
            <a:r>
              <a:rPr lang="pt-BR" sz="1800"/>
              <a:t>?</a:t>
            </a:r>
            <a:endParaRPr sz="3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2" title="pergunta_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0" y="1995575"/>
            <a:ext cx="5158825" cy="30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2"/>
          <p:cNvSpPr txBox="1"/>
          <p:nvPr/>
        </p:nvSpPr>
        <p:spPr>
          <a:xfrm>
            <a:off x="276299" y="355800"/>
            <a:ext cx="4929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Dados do Gráfico: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Destaque para: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Volume de Vendas do ‘Americano With Milk’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Faturamento total do ‘Latte’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14" name="Google Shape;114;p22"/>
          <p:cNvSpPr txBox="1"/>
          <p:nvPr/>
        </p:nvSpPr>
        <p:spPr>
          <a:xfrm>
            <a:off x="5815825" y="516900"/>
            <a:ext cx="26760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Recomendo promover ainda mais as ‘estrelas’ do menu, Americano With Milk e Latte, pois tem um alto volume e faturamento, também é interessante estudar mais a fundo o motivo do espresso ter um baixo volume de vendas, mesmo tendo um preço mais baixo para tomar uma decisão mais acertada sobre ele, também sugiro criar promoções sazonais, ex:(Latte promocional no horário de pico, Capuccino/Hot Chocolate especial de inverno)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1858761" y="2262700"/>
            <a:ext cx="558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/>
              <a:t>Existem </a:t>
            </a:r>
            <a:r>
              <a:rPr b="1" lang="pt-BR" sz="1800"/>
              <a:t>produtos com venda muito baixa</a:t>
            </a:r>
            <a:r>
              <a:rPr lang="pt-BR" sz="1800"/>
              <a:t> que talvez devam ser removidos do cardápio?</a:t>
            </a:r>
            <a:endParaRPr sz="3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Dados: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 responder a essa pergunta, realizei um levantamento estatístico do volume de vendas, usando o volume total e usando uma “nota de corte” de 5% com o objetivo de identificar quais produtos estavam tendo um volume de vendas menor que 5% do total.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Assim foi notado que o “espresso” é o produto que está abaixo de recorte, desse modo recomendo realizar um estudo mais profundo sobre as vendas deste produto, realizar variações promocionais com o intuito de chamar atenção para o produto e caso não gere retorno/resultado, pensar em removê-lo do cardápio e substituí-lo por outro produto.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949900" y="2262700"/>
            <a:ext cx="727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/>
              <a:t>Como os </a:t>
            </a:r>
            <a:r>
              <a:rPr b="1" lang="pt-BR" sz="1800"/>
              <a:t>valores dos produtos influenciam o volume de vendas</a:t>
            </a:r>
            <a:r>
              <a:rPr lang="pt-BR" sz="1800"/>
              <a:t> ?</a:t>
            </a:r>
            <a:endParaRPr sz="4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pergunta_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7100"/>
            <a:ext cx="5694000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 txBox="1"/>
          <p:nvPr/>
        </p:nvSpPr>
        <p:spPr>
          <a:xfrm>
            <a:off x="250800" y="281875"/>
            <a:ext cx="48303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Dados do Gráfico: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O gráfico demonstra uma correlação negativa leve sobre o impacto do preço no volume de vendas, mesmo assim ele sugere pontos de melhoria que tendem a melhorar o lucro e volume.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5614025" y="359400"/>
            <a:ext cx="3224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Recomendo enquadrar o valor dos produtos entre 30 e 32 $, pois essa é uma medida equilibrada entre o aumento no volume de vendas e aumento no faturamento, pode também adequar os produtos nessa faixa de preço em promoções sazonais, ex: (Diminuir o valor de bebidas quentes durante o verão) com o objetivo de aumentar o volume e estabilizar o faturamento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2080994" y="2262700"/>
            <a:ext cx="482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/>
              <a:t>Em quais </a:t>
            </a:r>
            <a:r>
              <a:rPr b="1" lang="pt-BR" sz="1800"/>
              <a:t>horários ou dias</a:t>
            </a:r>
            <a:r>
              <a:rPr lang="pt-BR" sz="1800"/>
              <a:t> o café poderia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/>
              <a:t> precisar de mais funcionários no caixa?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8" title="pergunta_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874" y="1650125"/>
            <a:ext cx="5822300" cy="349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8"/>
          <p:cNvSpPr txBox="1"/>
          <p:nvPr/>
        </p:nvSpPr>
        <p:spPr>
          <a:xfrm>
            <a:off x="370650" y="261900"/>
            <a:ext cx="864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Dados do gráfico: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Esse mapa de calor demonstra em suas áreas mais escuras os momentos do dia em que o volume de clientes é maior, assim é possível identificar que em todos os dias o período das 10:00 tem volume médio de clientes bem alto, seguido de um movimento ainda mais alto às 11:00 na terça-feira e no sábado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49" name="Google Shape;149;p28"/>
          <p:cNvSpPr txBox="1"/>
          <p:nvPr/>
        </p:nvSpPr>
        <p:spPr>
          <a:xfrm>
            <a:off x="370650" y="2039625"/>
            <a:ext cx="3315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De modo geral, recomendo ter mais funcionários no período da manhã, já que normalmente há um fluxo maior durante esse período, tendo mais funcionários entre as 10:00 e 12:00 e podendo usar os períodos noturnos para realizar treinamento de funcionários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2080994" y="2262700"/>
            <a:ext cx="482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/>
              <a:t>Existem </a:t>
            </a:r>
            <a:r>
              <a:rPr b="1" lang="pt-BR" sz="1800"/>
              <a:t>tendências semanais ou mensais?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0" title="pergunta_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7625" y="2019675"/>
            <a:ext cx="5206375" cy="3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0"/>
          <p:cNvSpPr txBox="1"/>
          <p:nvPr/>
        </p:nvSpPr>
        <p:spPr>
          <a:xfrm>
            <a:off x="160889" y="72125"/>
            <a:ext cx="4035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Dados do Gráfico: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O gráfico demonstra que sim, existem tendências semanais e mensais na cafeteria, sugerindo que há frequência bem definida tanto de aumento quanto na queda de faturamento da empresa, a média móvel de 7 dias suaviza as variações o que indica que os clientes costumam seguir um fluxo de 7 dias.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61" name="Google Shape;161;p30"/>
          <p:cNvSpPr txBox="1"/>
          <p:nvPr/>
        </p:nvSpPr>
        <p:spPr>
          <a:xfrm>
            <a:off x="4944871" y="221953"/>
            <a:ext cx="3315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Já com relação a tendência mensal, é possível identificar que há aumento e diminuição sazonal, especialmente meses de agosto/24 , novembro/24 e março/25 foram meses com maiores picos de faturamento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110966" y="2549008"/>
            <a:ext cx="3865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Com isso, recomendo aproveitar a identificação desses padrões para criar novos produtos sazonais, novas bebidas quentes para períodos frios, e bebidas frias para períodos quentes, também criar campanhas especiais para os períodos que identificamos os picos, para poder aproveitar do maior movimento para gerar mais faturamento para a empresa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